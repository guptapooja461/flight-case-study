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/>
            <a:br/>
            <a:r>
              <a:rPr lang="en-US" altLang="en-US" sz="3200"/>
              <a:t>Business Report: Flight Delay Risk Analysis &amp; Pricing Recommendations</a:t>
            </a:r>
            <a:br>
              <a:rPr lang="en-US" altLang="en-US" sz="3200"/>
            </a:br>
            <a:endParaRPr lang="en-US" alt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25395"/>
            <a:ext cx="8229600" cy="3602355"/>
          </a:xfrm>
        </p:spPr>
        <p:txBody>
          <a:bodyPr/>
          <a:lstStyle/>
          <a:p>
            <a:pPr marL="0" indent="0">
              <a:buNone/>
            </a:pPr>
            <a:br>
              <a:rPr lang="en-US" altLang="en-US">
                <a:sym typeface="+mn-ea"/>
              </a:rPr>
            </a:br>
            <a:r>
              <a:rPr lang="en-US" altLang="en-US" sz="2000">
                <a:sym typeface="+mn-ea"/>
              </a:rPr>
              <a:t>Prepared by: </a:t>
            </a:r>
            <a:r>
              <a:rPr lang="en-IN" altLang="en-US" sz="2000">
                <a:sym typeface="+mn-ea"/>
              </a:rPr>
              <a:t>Pooja Gupta</a:t>
            </a:r>
            <a:br>
              <a:rPr lang="en-US" altLang="en-US" sz="2000">
                <a:sym typeface="+mn-ea"/>
              </a:rPr>
            </a:br>
            <a:r>
              <a:rPr lang="en-US" altLang="en-US" sz="2000">
                <a:sym typeface="+mn-ea"/>
              </a:rPr>
              <a:t>Objective: Identify key factors that influence flight delay claim risk and propose a simple, effective risk-based pricing model for the $800 flight-delay benefit.</a:t>
            </a:r>
            <a:endParaRPr lang="en-US" altLang="en-US"/>
          </a:p>
          <a:p>
            <a:pPr marL="0" indent="0">
              <a:buNone/>
            </a:pP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1. </a:t>
            </a: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The analysis of flight delay claims between 2013–2016 shows that delay risk varies significantly across airlines, departure times, and seasons. These insights enable us to create a three-tier pricing model (Low, Medium, High risk) that aligns price with risk, improves profitability, and enhances competitiveness for low-risk flights.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>
                <a:sym typeface="+mn-ea"/>
              </a:rPr>
              <a:t>2. </a:t>
            </a:r>
            <a:r>
              <a:rPr lang="en-US" altLang="en-US">
                <a:sym typeface="+mn-ea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800"/>
              <a:t>Historical flight data included:</a:t>
            </a:r>
            <a:endParaRPr lang="en-US" altLang="en-US" sz="1800"/>
          </a:p>
          <a:p>
            <a:r>
              <a:rPr lang="en-US" altLang="en-US" sz="1800"/>
              <a:t>Airline</a:t>
            </a:r>
            <a:endParaRPr lang="en-US" altLang="en-US" sz="1800"/>
          </a:p>
          <a:p>
            <a:r>
              <a:rPr lang="en-US" altLang="en-US" sz="1800"/>
              <a:t>Departure &amp; Arrival airports</a:t>
            </a:r>
            <a:endParaRPr lang="en-US" altLang="en-US" sz="1800"/>
          </a:p>
          <a:p>
            <a:r>
              <a:rPr lang="en-US" altLang="en-US" sz="1800"/>
              <a:t>Scheduled departure time</a:t>
            </a:r>
            <a:endParaRPr lang="en-US" altLang="en-US" sz="1800"/>
          </a:p>
          <a:p>
            <a:r>
              <a:rPr lang="en-US" altLang="en-US" sz="1800"/>
              <a:t>Month &amp; day-of-week</a:t>
            </a:r>
            <a:endParaRPr lang="en-US" altLang="en-US" sz="1800"/>
          </a:p>
          <a:p>
            <a:r>
              <a:rPr lang="en-US" altLang="en-US" sz="1800"/>
              <a:t>Delay hours</a:t>
            </a:r>
            <a:endParaRPr lang="en-US" altLang="en-US" sz="1800"/>
          </a:p>
          <a:p>
            <a:r>
              <a:rPr lang="en-US" altLang="en-US" sz="1800"/>
              <a:t>Claim payout (0 or 800)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We created a binary indicator (is_claim_flag):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1 → Claim occurred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0 → No claim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>
                <a:sym typeface="+mn-ea"/>
              </a:rPr>
              <a:t>3. </a:t>
            </a:r>
            <a:r>
              <a:rPr lang="en-US" altLang="en-US">
                <a:sym typeface="+mn-ea"/>
              </a:rPr>
              <a:t>Key Insights From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 sz="2400"/>
              <a:t>We tested several hypotheses to understand which factors influence claim probability.</a:t>
            </a:r>
            <a:endParaRPr lang="en-US" altLang="en-US" sz="2400"/>
          </a:p>
          <a:p>
            <a:r>
              <a:rPr lang="en-US" altLang="en-US" sz="2400"/>
              <a:t>Below are the findings supported by visualizations.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3.1 </a:t>
            </a:r>
            <a:r>
              <a:rPr lang="en-US" altLang="en-US"/>
              <a:t>Airline Risk Analysis (Hypothesis 1)</a:t>
            </a:r>
            <a:endParaRPr lang="en-US" altLang="en-US"/>
          </a:p>
        </p:txBody>
      </p:sp>
      <p:pic>
        <p:nvPicPr>
          <p:cNvPr id="4" name="Content Placeholder 3" descr="claim_rate_by_airlin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5650" y="1107440"/>
            <a:ext cx="8226425" cy="3291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3.1 </a:t>
            </a:r>
            <a:r>
              <a:rPr lang="en-US" altLang="en-US">
                <a:sym typeface="+mn-ea"/>
              </a:rPr>
              <a:t>Airline Risk Analysis (Hypothesis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800"/>
              <a:t>Insight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Claim rates vary significantly across airlines.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Some </a:t>
            </a:r>
            <a:r>
              <a:rPr lang="en-IN" altLang="en-US" sz="1800"/>
              <a:t>airlines</a:t>
            </a:r>
            <a:r>
              <a:rPr lang="en-US" altLang="en-US" sz="1800"/>
              <a:t> (9C, AE) exhibit claim rates as high as 9%–17%, well above the dataset average.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Other airlines show consistently low risk (1–3%).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Conclusion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Airline is the strongest predictor of delay risk.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High-risk airlines should have higher premiums; low-risk carriers represent safe, low-cost pricing opportunities</a:t>
            </a: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3.2 </a:t>
            </a:r>
            <a:r>
              <a:rPr lang="en-US" altLang="en-US"/>
              <a:t>Departure Time Risk (Hypothesis 2)</a:t>
            </a:r>
            <a:endParaRPr lang="en-US" altLang="en-US"/>
          </a:p>
        </p:txBody>
      </p:sp>
      <p:pic>
        <p:nvPicPr>
          <p:cNvPr id="4" name="Content Placeholder 3" descr="claim_rate_by_hour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45605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>
                <a:sym typeface="+mn-ea"/>
              </a:rPr>
              <a:t>3.2 </a:t>
            </a:r>
            <a:r>
              <a:rPr lang="en-US" altLang="en-US">
                <a:sym typeface="+mn-ea"/>
              </a:rPr>
              <a:t>Departure Time Risk (Hypothesis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800"/>
              <a:t>Insight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A dramatic spike in claims occurs at 05:00 AM, with a claim rate near 30%, far higher than any other hour.</a:t>
            </a:r>
            <a:endParaRPr lang="en-US" altLang="en-US" sz="1800"/>
          </a:p>
          <a:p>
            <a:r>
              <a:rPr lang="en-US" altLang="en-US" sz="1800"/>
              <a:t>Moderate risk observed at early morning (1–3 AM) and evening hours.</a:t>
            </a:r>
            <a:endParaRPr lang="en-US" altLang="en-US" sz="1800"/>
          </a:p>
          <a:p>
            <a:r>
              <a:rPr lang="en-US" altLang="en-US" sz="1800"/>
              <a:t>Most daytime flights show stable, lower risk.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Conclusion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Departure time strongly influences risk, particularly early morning departures.</a:t>
            </a:r>
            <a:endParaRPr lang="en-US" altLang="en-US" sz="1800"/>
          </a:p>
          <a:p>
            <a:r>
              <a:rPr lang="en-US" altLang="en-US" sz="1800"/>
              <a:t>Flights around 05:00 AM should be categorized as High Risk, even if other factors are low.</a:t>
            </a:r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72390"/>
            <a:ext cx="8923655" cy="838200"/>
          </a:xfrm>
        </p:spPr>
        <p:txBody>
          <a:bodyPr/>
          <a:lstStyle/>
          <a:p>
            <a:r>
              <a:rPr lang="en-IN"/>
              <a:t>3.3 </a:t>
            </a:r>
            <a:r>
              <a:rPr lang="en-US" altLang="en-US"/>
              <a:t>Seasonal Risk Analysis (Hypothesis 3)</a:t>
            </a:r>
            <a:endParaRPr lang="en-US" altLang="en-US"/>
          </a:p>
        </p:txBody>
      </p:sp>
      <p:pic>
        <p:nvPicPr>
          <p:cNvPr id="4" name="Content Placeholder 3" descr="claim_rate_by_month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45605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62865"/>
            <a:ext cx="9144000" cy="746760"/>
          </a:xfrm>
        </p:spPr>
        <p:txBody>
          <a:bodyPr/>
          <a:lstStyle/>
          <a:p>
            <a:r>
              <a:rPr lang="en-IN">
                <a:sym typeface="+mn-ea"/>
              </a:rPr>
              <a:t>3.3 </a:t>
            </a:r>
            <a:r>
              <a:rPr lang="en-US" altLang="en-US">
                <a:sym typeface="+mn-ea"/>
              </a:rPr>
              <a:t>Seasonal Risk Analysis (Hypothesis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800"/>
              <a:t>Insight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/>
              <a:t>January has the highest risk (~6%), likely due to winter weather.</a:t>
            </a:r>
            <a:endParaRPr lang="en-US" altLang="en-US" sz="1800"/>
          </a:p>
          <a:p>
            <a:r>
              <a:rPr lang="en-US" altLang="en-US" sz="1800"/>
              <a:t>A second risk peak occurs from May to July, associated with heavy travel and congestion.</a:t>
            </a:r>
            <a:endParaRPr lang="en-US" altLang="en-US" sz="1800"/>
          </a:p>
          <a:p>
            <a:r>
              <a:rPr lang="en-US" altLang="en-US" sz="1800"/>
              <a:t>February and December show the lowest risk.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Conclusion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/>
              <a:t>Delay risk exhibits clear seasonality.</a:t>
            </a:r>
            <a:endParaRPr lang="en-US" altLang="en-US" sz="1800"/>
          </a:p>
          <a:p>
            <a:r>
              <a:rPr lang="en-US" altLang="en-US" sz="1800"/>
              <a:t>Premiums can be seasonally adjusted to reflect known high-risk periods.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90805"/>
            <a:ext cx="9144000" cy="1074420"/>
          </a:xfrm>
        </p:spPr>
        <p:txBody>
          <a:bodyPr/>
          <a:lstStyle/>
          <a:p>
            <a:r>
              <a:rPr lang="en-IN"/>
              <a:t>3.4 </a:t>
            </a:r>
            <a:r>
              <a:rPr lang="en-US" altLang="en-US"/>
              <a:t>Known vs Unknown Airlines (Hypothesis4)</a:t>
            </a:r>
            <a:endParaRPr lang="en-US" altLang="en-US"/>
          </a:p>
        </p:txBody>
      </p:sp>
      <p:pic>
        <p:nvPicPr>
          <p:cNvPr id="4" name="Content Placeholder 3" descr="known_vs_unknown_airline_claim_rat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5285" y="1456055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163830"/>
            <a:ext cx="9271635" cy="810260"/>
          </a:xfrm>
        </p:spPr>
        <p:txBody>
          <a:bodyPr/>
          <a:lstStyle/>
          <a:p>
            <a:r>
              <a:rPr lang="en-IN">
                <a:sym typeface="+mn-ea"/>
              </a:rPr>
              <a:t>3.4 </a:t>
            </a:r>
            <a:r>
              <a:rPr lang="en-US" altLang="en-US">
                <a:sym typeface="+mn-ea"/>
              </a:rPr>
              <a:t>Known vs Unknown Airlines (Hypothesis4)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800"/>
              <a:t>Insight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Known airlines claim rate ≈ 4.4%</a:t>
            </a:r>
            <a:endParaRPr lang="en-US" altLang="en-US" sz="1800"/>
          </a:p>
          <a:p>
            <a:r>
              <a:rPr lang="en-US" altLang="en-US" sz="1800"/>
              <a:t>Unknown airlines claim rate ≈ 2.9% 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Conclusion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Missing airline information does not indicate higher risk.</a:t>
            </a:r>
            <a:endParaRPr lang="en-US" altLang="en-US" sz="1800"/>
          </a:p>
          <a:p>
            <a:r>
              <a:rPr lang="en-US" altLang="en-US" sz="1800"/>
              <a:t>In fact, Unknown Airline flights appear more reliable and should be priced as Low Risk, not penalized.</a:t>
            </a:r>
            <a:endParaRPr lang="en-US" altLang="en-US" sz="1800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4 </a:t>
            </a:r>
            <a:r>
              <a:rPr lang="en-US" altLang="en-US"/>
              <a:t>Synthesis: What Truly Drives Claim Risk?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800"/>
              <a:t>Based on all hypotheses, the major risk drivers are: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Airline</a:t>
            </a:r>
            <a:endParaRPr lang="en-US" altLang="en-US" sz="1800"/>
          </a:p>
          <a:p>
            <a:r>
              <a:rPr lang="en-US" altLang="en-US" sz="1800"/>
              <a:t>Departure Hour</a:t>
            </a:r>
            <a:endParaRPr lang="en-US" altLang="en-US" sz="1800"/>
          </a:p>
          <a:p>
            <a:r>
              <a:rPr lang="en-US" altLang="en-US" sz="1800"/>
              <a:t>Season/Month</a:t>
            </a:r>
            <a:endParaRPr lang="en-US" altLang="en-US" sz="1800"/>
          </a:p>
          <a:p>
            <a:r>
              <a:rPr lang="en-US" altLang="en-US" sz="1800"/>
              <a:t>Data Category (Unknown Airline)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These variables should form the foundation of our pricing strategy.</a:t>
            </a:r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5.</a:t>
            </a:r>
            <a:r>
              <a:rPr lang="en-US" altLang="en-US">
                <a:sym typeface="+mn-ea"/>
              </a:rPr>
              <a:t>Recommended Risk Bucketing Model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We </a:t>
            </a:r>
            <a:r>
              <a:rPr lang="en-IN" altLang="en-US"/>
              <a:t>can </a:t>
            </a:r>
            <a:r>
              <a:rPr lang="en-US" altLang="en-US"/>
              <a:t>classify flights into three risk levels based on predicted claim probability: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428750" y="3429000"/>
          <a:ext cx="6399530" cy="147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RISK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Probability of claim</a:t>
                      </a:r>
                      <a:endParaRPr lang="en-I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Low Risk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&lt;3%</a:t>
                      </a:r>
                      <a:endParaRPr lang="en-I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Medium Risk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3%-8%</a:t>
                      </a:r>
                      <a:endParaRPr lang="en-I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High Risk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&gt;8%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6.</a:t>
            </a:r>
            <a:r>
              <a:rPr lang="en-US" altLang="en-US">
                <a:sym typeface="+mn-ea"/>
              </a:rPr>
              <a:t>Expected Loss per Risk Tier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/>
          </a:p>
          <a:p>
            <a:r>
              <a:rPr lang="en-US" altLang="en-US" sz="1800"/>
              <a:t>Expected Loss</a:t>
            </a:r>
            <a:r>
              <a:rPr lang="en-IN" altLang="en-US" sz="1800"/>
              <a:t> </a:t>
            </a:r>
            <a:r>
              <a:rPr lang="en-US" altLang="en-US" sz="1800"/>
              <a:t>=</a:t>
            </a:r>
            <a:r>
              <a:rPr lang="en-IN" altLang="en-US" sz="1800"/>
              <a:t> </a:t>
            </a:r>
            <a:r>
              <a:rPr lang="en-US" altLang="en-US" sz="1800"/>
              <a:t>Claim Probability×800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graphicFrame>
        <p:nvGraphicFramePr>
          <p:cNvPr id="4" name="Table 3"/>
          <p:cNvGraphicFramePr/>
          <p:nvPr/>
        </p:nvGraphicFramePr>
        <p:xfrm>
          <a:off x="850900" y="2429510"/>
          <a:ext cx="64001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Risk Tier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Typical Probability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Expected Loss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Low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1-3%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$8-$24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Medium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3-8%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$24-$64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High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8-15%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$64-$120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03*115"/>
  <p:tag name="TABLE_ENDDRAG_RECT" val="108*214*503*115"/>
</p:tagLst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3278</Words>
  <Application>WPS Presentation</Application>
  <PresentationFormat>On-screen Show (4:3)</PresentationFormat>
  <Paragraphs>160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Orange Waves</vt:lpstr>
      <vt:lpstr>Flight Delay Risk Analysis &amp; Pricing Recommendation</vt:lpstr>
      <vt:lpstr>Executive Summary</vt:lpstr>
      <vt:lpstr>Business Context</vt:lpstr>
      <vt:lpstr>Claim Policy</vt:lpstr>
      <vt:lpstr>Dataset Overview</vt:lpstr>
      <vt:lpstr>Overall Claim Rate</vt:lpstr>
      <vt:lpstr>Key Finding #1 – Airline</vt:lpstr>
      <vt:lpstr>Key Finding #2 – Airport</vt:lpstr>
      <vt:lpstr>Key Finding #3 – Time of Day</vt:lpstr>
      <vt:lpstr>Key Finding #4 – Seasonality</vt:lpstr>
      <vt:lpstr>Risk Model</vt:lpstr>
      <vt:lpstr>Risk Segmentation</vt:lpstr>
      <vt:lpstr>Expected Loss</vt:lpstr>
      <vt:lpstr>Pricing Recommendation</vt:lpstr>
      <vt:lpstr>Business Benefits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Pooja Gupta</cp:lastModifiedBy>
  <cp:revision>2</cp:revision>
  <dcterms:created xsi:type="dcterms:W3CDTF">2013-01-27T09:14:00Z</dcterms:created>
  <dcterms:modified xsi:type="dcterms:W3CDTF">2025-12-09T13:57:15Z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5F3D59162EBB4BD689768432DA2CDBA1_12</vt:lpwstr>
  </property>
  <property fmtid="{D5CDD505-2E9C-101B-9397-08002B2CF9AE}" pid="3" name="KSOProductBuildVer">
    <vt:lpwstr>1033-12.2.0.23155</vt:lpwstr>
  </property>
</Properties>
</file>